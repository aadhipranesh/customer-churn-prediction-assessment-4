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CBD4-36C5-9CAA-2902-DA8FFB548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5" y="615484"/>
            <a:ext cx="10481186" cy="2541431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FRESHBASKET RETAIL LOYALTY PROGRAM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&amp; Proactive Retention Engine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709A8-F520-F32C-9839-7C4082D43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462378"/>
            <a:ext cx="8637072" cy="977621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Scikit-learn, SHAP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Aadhi Pranesh 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Kongu Engineering College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55DF2F5-B288-A5EF-A661-B0F77058A5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0508" y="12812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8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95"/>
    </mc:Choice>
    <mc:Fallback xmlns="">
      <p:transition spd="slow" advTm="341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9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1D83-BF1B-72D1-68C2-CFE66990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&amp;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5691E-E384-B9DE-8742-89C82E25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015732"/>
            <a:ext cx="9603275" cy="345061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FreshBasket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lose customers who stop purchasing.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retention offers may reach customers who do not need them.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 may leave without targeted intervention.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customers at risk of churn using machine learning.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key factors associated with customer churn.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Logistic Regression and Random Forest.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targeted customer retention strategies.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C294A39-1A05-3578-0BCC-33C549905F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0944" y="39216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3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55"/>
    </mc:Choice>
    <mc:Fallback xmlns="">
      <p:transition spd="slow" advTm="21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77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63FB-4329-B17D-C87E-99B61BB6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dirty="0"/>
              <a:t> &amp; 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7CCD6-A465-10D5-60CC-561D41831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123311" cy="3450613"/>
          </a:xfrm>
        </p:spPr>
        <p:txBody>
          <a:bodyPr>
            <a:no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                                     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2,600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tables: 3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Activity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Label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period: January 2023 – June 2024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DC0F0-6C03-C675-C000-0EE4B0295132}"/>
              </a:ext>
            </a:extLst>
          </p:cNvPr>
          <p:cNvSpPr txBox="1"/>
          <p:nvPr/>
        </p:nvSpPr>
        <p:spPr>
          <a:xfrm>
            <a:off x="6253316" y="1853754"/>
            <a:ext cx="4925961" cy="3577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8 duplicate profile rows.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5 duplicate churn-label rows.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60 activity rows: 58 exact duplicates and 2 conflicting rows.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negative and zero-spend records.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Treated missing demographic values.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Preserved 6 customers with no activity records.</a:t>
            </a:r>
          </a:p>
          <a:p>
            <a:pPr>
              <a:lnSpc>
                <a:spcPct val="150000"/>
              </a:lnSpc>
            </a:pPr>
            <a:endParaRPr lang="en-IN" sz="1700" dirty="0"/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4E3C2A5-0710-95B7-722A-2A6BAAFB8B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04899" y="18142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5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639"/>
    </mc:Choice>
    <mc:Fallback xmlns="">
      <p:transition spd="slow" advTm="516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7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7CFB-7BCB-6151-718E-1252B416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DEFINITION &amp; DATA LEAKAGE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A07C-DF59-9009-C2B1-7C2FCE2E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755466" cy="3450613"/>
          </a:xfrm>
        </p:spPr>
        <p:txBody>
          <a:bodyPr>
            <a:no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Definition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Cut-off date: March 31, 2024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period: April 1 – June 30, 2024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means zero purchases during the prediction period, </a:t>
            </a:r>
          </a:p>
          <a:p>
            <a:pPr marL="0" lv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despite previous purchase history.</a:t>
            </a:r>
          </a:p>
          <a:p>
            <a:pPr lvl="0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Validation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cohort: 1,947 customers; 733 churners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cohort: 602 customers; 85 churners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Excluded: 51 customers who signed up after the cut-off date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95F6A-4055-B2BD-ED69-146797C42426}"/>
              </a:ext>
            </a:extLst>
          </p:cNvPr>
          <p:cNvSpPr txBox="1"/>
          <p:nvPr/>
        </p:nvSpPr>
        <p:spPr>
          <a:xfrm>
            <a:off x="7472516" y="2015732"/>
            <a:ext cx="4434349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Prevention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only information available before April 1, 2024, as model predictors.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future churn period separate for evaluation.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254F428-A873-DAB9-A909-3F28BA523F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25202" y="47984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8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787"/>
    </mc:Choice>
    <mc:Fallback xmlns="">
      <p:transition spd="slow" advTm="647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78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D7D0-CB87-4FAA-8BE5-BB01E444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MODEL DEVELOPMENT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C266-028B-91E5-AAC4-90D6CBC31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311" y="2005784"/>
            <a:ext cx="4572000" cy="232041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 predictor features from customer data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 and demographics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behaviour and recent shopping activity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and support</a:t>
            </a:r>
          </a:p>
          <a:p>
            <a:pPr lvl="0">
              <a:lnSpc>
                <a:spcPct val="150000"/>
              </a:lnSpc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activity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E5E93-E142-345D-F26E-1CD024403567}"/>
              </a:ext>
            </a:extLst>
          </p:cNvPr>
          <p:cNvSpPr txBox="1"/>
          <p:nvPr/>
        </p:nvSpPr>
        <p:spPr>
          <a:xfrm>
            <a:off x="6213989" y="2025445"/>
            <a:ext cx="4572000" cy="397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Baseline classification model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Ensemble model using 200 decision trees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using imputation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converted using One-Hot Encoding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scaling applied to Logistic Regression</a:t>
            </a:r>
          </a:p>
          <a:p>
            <a:pPr>
              <a:lnSpc>
                <a:spcPct val="150000"/>
              </a:lnSpc>
            </a:pPr>
            <a:endParaRPr lang="en-IN" sz="1700" dirty="0"/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D84117A-65A2-638B-2E5E-CE089FF715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26416" y="31715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5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41"/>
    </mc:Choice>
    <mc:Fallback xmlns="">
      <p:transition spd="slow" advTm="65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AB9F-E891-8E42-87F5-C3B6C7F5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&amp;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97F290-C587-79FD-CCE1-EC92197BD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399913"/>
              </p:ext>
            </p:extLst>
          </p:nvPr>
        </p:nvGraphicFramePr>
        <p:xfrm>
          <a:off x="2045110" y="2643663"/>
          <a:ext cx="8416413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5471">
                  <a:extLst>
                    <a:ext uri="{9D8B030D-6E8A-4147-A177-3AD203B41FA5}">
                      <a16:colId xmlns:a16="http://schemas.microsoft.com/office/drawing/2014/main" val="3293097584"/>
                    </a:ext>
                  </a:extLst>
                </a:gridCol>
                <a:gridCol w="2805471">
                  <a:extLst>
                    <a:ext uri="{9D8B030D-6E8A-4147-A177-3AD203B41FA5}">
                      <a16:colId xmlns:a16="http://schemas.microsoft.com/office/drawing/2014/main" val="2618423679"/>
                    </a:ext>
                  </a:extLst>
                </a:gridCol>
                <a:gridCol w="2805471">
                  <a:extLst>
                    <a:ext uri="{9D8B030D-6E8A-4147-A177-3AD203B41FA5}">
                      <a16:colId xmlns:a16="http://schemas.microsoft.com/office/drawing/2014/main" val="4214196800"/>
                    </a:ext>
                  </a:extLst>
                </a:gridCol>
              </a:tblGrid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120028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94.68%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91.69%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70734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66.67%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315306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70.59%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82.35%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654903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78.95%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69053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0.8808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0.8499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2559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8AD155-C0C0-7B5A-302C-9D4415AAFA49}"/>
              </a:ext>
            </a:extLst>
          </p:cNvPr>
          <p:cNvSpPr txBox="1"/>
          <p:nvPr/>
        </p:nvSpPr>
        <p:spPr>
          <a:xfrm>
            <a:off x="1455177" y="2068868"/>
            <a:ext cx="100977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Validation results — 602 customers, decision threshold 0.50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Logistic Regression: Higher precision and fewer false alarms.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Random Forest: Higher recall; detects 70 of 85 churners.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difference in PR-AUC is not statistically significant based on the paired confidence interval.</a:t>
            </a:r>
          </a:p>
        </p:txBody>
      </p:sp>
      <p:pic>
        <p:nvPicPr>
          <p:cNvPr id="9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6AD9307-5758-D5B0-BB08-1F702354ED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11172" y="31715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96"/>
    </mc:Choice>
    <mc:Fallback xmlns="">
      <p:transition spd="slow" advTm="226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53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DA59-CF1D-5586-5DC3-809D87C3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DRIVERS &amp; SHAP 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4D40-A694-10C5-9864-2539CC8E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35" y="2015732"/>
            <a:ext cx="6030769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Random Forest Predictors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transactions — TXNS_LAST_3M (0.1741)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recency — RECENCY_MONTHS_PRE_CUTOFF (0.1686)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spending — SPEND_LAST_3M (0.1649)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explains how features influence individual model predictions.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purchase activity and spending are important churn signals.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relationships show associations, not proven causes.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8D825-5F33-FB9F-AF93-027ED1A9B30C}"/>
              </a:ext>
            </a:extLst>
          </p:cNvPr>
          <p:cNvSpPr txBox="1"/>
          <p:nvPr/>
        </p:nvSpPr>
        <p:spPr>
          <a:xfrm>
            <a:off x="6902245" y="2025445"/>
            <a:ext cx="4621161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Customer: 500014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churn risk: 77.67%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drivers: recent spending and recent transactions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38EC2D5-AACF-C5EC-69C7-D2D8BE101D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79724" y="31715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93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42"/>
    </mc:Choice>
    <mc:Fallback>
      <p:transition spd="slow" advTm="58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E701-DF04-D179-A9B2-20250508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10327466" cy="104923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FEATURE ABLATION &amp; CUSTOMER SEGMENTATION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274A4F4-5CDE-A0C3-82ED-FFB31F872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219603"/>
              </p:ext>
            </p:extLst>
          </p:nvPr>
        </p:nvGraphicFramePr>
        <p:xfrm>
          <a:off x="1450975" y="2620066"/>
          <a:ext cx="960437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664782047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25262284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9050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5096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Demographics +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0401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Purchase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520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Feature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84598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3E54075-0F54-AC31-A8BE-BC92FFA131FF}"/>
              </a:ext>
            </a:extLst>
          </p:cNvPr>
          <p:cNvSpPr txBox="1"/>
          <p:nvPr/>
        </p:nvSpPr>
        <p:spPr>
          <a:xfrm>
            <a:off x="1457633" y="1884174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Ablation Study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using Random Forest validation results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ECBDE-4465-36F4-7463-6BF61C5DF22F}"/>
              </a:ext>
            </a:extLst>
          </p:cNvPr>
          <p:cNvSpPr txBox="1"/>
          <p:nvPr/>
        </p:nvSpPr>
        <p:spPr>
          <a:xfrm>
            <a:off x="1555952" y="4497016"/>
            <a:ext cx="6100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Silver churn rate: 12.93%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Gold churn rate: 13.61%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Platinum churn rate: 22.22% (63 customers; small sample)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cohorts show different observed churn rates.</a:t>
            </a:r>
          </a:p>
        </p:txBody>
      </p:sp>
      <p:pic>
        <p:nvPicPr>
          <p:cNvPr id="1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FF07596-CF45-4193-45F1-E42645AF80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43189" y="17768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26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594"/>
    </mc:Choice>
    <mc:Fallback>
      <p:transition spd="slow" advTm="705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59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64F6-3F95-0076-2C79-9EC4A46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LIMITATIONS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5D9C5-8B18-2054-A3D8-580B1B2D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732911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Limited Validation Data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602 customers in the validation cohort.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85 actual churners.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Probability Calibration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mean predicted risk: 13.86%.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mean predicted risk: 30.36%.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probability calibration is still required.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AA0DC-95EE-AF6D-4C00-89F7635CB5D7}"/>
              </a:ext>
            </a:extLst>
          </p:cNvPr>
          <p:cNvSpPr txBox="1"/>
          <p:nvPr/>
        </p:nvSpPr>
        <p:spPr>
          <a:xfrm>
            <a:off x="6322142" y="1809135"/>
            <a:ext cx="4732712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Limitations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depend on the available customer records.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identifies associations, not proven causes of churn.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Business Impact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results are simulated, not measured in a real campaign.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effectiveness must be tested before deployment.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423BECB-CFAA-133E-773F-C9C62826BB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85641" y="32453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1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296"/>
    </mc:Choice>
    <mc:Fallback>
      <p:transition spd="slow" advTm="572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BA5B-4F31-8324-FFE3-A34E7A58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RETENTION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A6B13-E076-9BDC-832C-F8A83510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618" y="2015732"/>
            <a:ext cx="6571544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Retention Strategies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follow-up: Contact customers with recorded support issues.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Reactivation offers: Target customers with long purchase gaps.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engagement: Reach customers with low digital activity.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Project Findings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achieved 89.55% precision.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82.35% recall.</a:t>
            </a:r>
          </a:p>
          <a:p>
            <a:pPr lvl="0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behaviour was an important predictor of customer churn.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8835C-F1BA-4BD0-F3F4-EDA585772955}"/>
              </a:ext>
            </a:extLst>
          </p:cNvPr>
          <p:cNvSpPr txBox="1"/>
          <p:nvPr/>
        </p:nvSpPr>
        <p:spPr>
          <a:xfrm>
            <a:off x="7364360" y="1986116"/>
            <a:ext cx="4404853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  <a:buSzPct val="100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customers at risk of leaving.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targeted retention campaigns.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reduce wasted marketing spending.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09CB99F-7035-DF14-58E0-71AF2EEEFD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67491" y="25097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76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473"/>
    </mc:Choice>
    <mc:Fallback>
      <p:transition spd="slow" advTm="72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{52C14B3D-B7B3-49CC-AB59-91E5AB5EEB6D}TFc986dd65-aaf0-4d5c-bef9-9c391ee05f7b792878d6-f8cb856a3a7f</Template>
  <TotalTime>133</TotalTime>
  <Words>768</Words>
  <Application>Microsoft Office PowerPoint</Application>
  <PresentationFormat>Widescreen</PresentationFormat>
  <Paragraphs>147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Times New Roman</vt:lpstr>
      <vt:lpstr>Gallery</vt:lpstr>
      <vt:lpstr>FRESHBASKET RETAIL LOYALTY PROGRAM Customer Churn Prediction &amp; Proactive Retention Engine </vt:lpstr>
      <vt:lpstr>BUSINESS PROBLEM &amp; PROJECT OBJECTIVES</vt:lpstr>
      <vt:lpstr>DATASET &amp; DATA QUALITY</vt:lpstr>
      <vt:lpstr>CHURN DEFINITION &amp; DATA LEAKAGE PREVENTION</vt:lpstr>
      <vt:lpstr>FEATURE ENGINEERING &amp; MODEL DEVELOPMENT </vt:lpstr>
      <vt:lpstr>MODEL EVALUATION &amp; COMPARISON</vt:lpstr>
      <vt:lpstr>CHURN DRIVERS &amp; SHAP EXPLAINABILITY</vt:lpstr>
      <vt:lpstr>FEATURE ABLATION &amp; CUSTOMER SEGMENTATION</vt:lpstr>
      <vt:lpstr>MODEL LIMITATIONS &amp; CHALLENGES</vt:lpstr>
      <vt:lpstr>CONCLUSION &amp; RETENTION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Aadhi Pranesh</dc:creator>
  <cp:lastModifiedBy>Aadhi Pranesh</cp:lastModifiedBy>
  <cp:revision>2</cp:revision>
  <dcterms:created xsi:type="dcterms:W3CDTF">2026-10-28T11:24:44Z</dcterms:created>
  <dcterms:modified xsi:type="dcterms:W3CDTF">2026-10-28T13:39:07Z</dcterms:modified>
</cp:coreProperties>
</file>